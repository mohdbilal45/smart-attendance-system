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embeddedFontLst>
    <p:embeddedFont>
      <p:font typeface="Unbounded" pitchFamily="34" charset="0"/>
      <p:regular r:id="rId17"/>
    </p:embeddedFont>
    <p:embeddedFont>
      <p:font typeface="Unbounded" pitchFamily="34" charset="-122"/>
      <p:regular r:id="rId18"/>
    </p:embeddedFont>
    <p:embeddedFont>
      <p:font typeface="Unbounded" pitchFamily="34" charset="-120"/>
      <p:regular r:id="rId19"/>
    </p:embeddedFont>
    <p:embeddedFont>
      <p:font typeface="Cabin" pitchFamily="34" charset="0"/>
      <p:regular r:id="rId20"/>
    </p:embeddedFont>
    <p:embeddedFont>
      <p:font typeface="Cabin" pitchFamily="34" charset="-122"/>
      <p:regular r:id="rId21"/>
    </p:embeddedFont>
    <p:embeddedFont>
      <p:font typeface="Cabin" pitchFamily="34" charset="-120"/>
      <p:regular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798984"/>
            <a:ext cx="4667845" cy="11548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Human Face Recognition Attendance System (FRAS)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52577" y="2150120"/>
            <a:ext cx="5125045" cy="2094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Final Project Presentation · 2026 Optimization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3952577" y="2539454"/>
            <a:ext cx="4667845" cy="9748"/>
          </a:xfrm>
          <a:prstGeom prst="rect">
            <a:avLst/>
          </a:prstGeom>
          <a:solidFill>
            <a:srgbClr val="CAD6DE">
              <a:alpha val="50000"/>
            </a:srgbClr>
          </a:solidFill>
        </p:spPr>
      </p:sp>
      <p:sp>
        <p:nvSpPr>
          <p:cNvPr id="6" name="Shape 3"/>
          <p:cNvSpPr/>
          <p:nvPr/>
        </p:nvSpPr>
        <p:spPr>
          <a:xfrm>
            <a:off x="3952577" y="2729136"/>
            <a:ext cx="2268438" cy="742206"/>
          </a:xfrm>
          <a:prstGeom prst="roundRect">
            <a:avLst>
              <a:gd name="adj" fmla="val 2646"/>
            </a:avLst>
          </a:prstGeom>
          <a:solidFill>
            <a:srgbClr val="304755"/>
          </a:solidFill>
        </p:spPr>
      </p:sp>
      <p:sp>
        <p:nvSpPr>
          <p:cNvPr id="7" name="Text 4"/>
          <p:cNvSpPr/>
          <p:nvPr/>
        </p:nvSpPr>
        <p:spPr>
          <a:xfrm>
            <a:off x="4083472" y="2860030"/>
            <a:ext cx="1703487" cy="192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Mohammed Bilal K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083472" y="3131046"/>
            <a:ext cx="2006650" cy="2094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Reg No: U03EC23S0178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351910" y="2729136"/>
            <a:ext cx="2268513" cy="742206"/>
          </a:xfrm>
          <a:prstGeom prst="roundRect">
            <a:avLst>
              <a:gd name="adj" fmla="val 2646"/>
            </a:avLst>
          </a:prstGeom>
          <a:solidFill>
            <a:srgbClr val="304755"/>
          </a:solidFill>
        </p:spPr>
      </p:sp>
      <p:sp>
        <p:nvSpPr>
          <p:cNvPr id="10" name="Text 7"/>
          <p:cNvSpPr/>
          <p:nvPr/>
        </p:nvSpPr>
        <p:spPr>
          <a:xfrm>
            <a:off x="6482804" y="2860030"/>
            <a:ext cx="1540073" cy="192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Adhik 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82804" y="3131046"/>
            <a:ext cx="2006724" cy="2094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Reg No: U03EC23S0104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952577" y="3602236"/>
            <a:ext cx="4667845" cy="742206"/>
          </a:xfrm>
          <a:prstGeom prst="roundRect">
            <a:avLst>
              <a:gd name="adj" fmla="val 2646"/>
            </a:avLst>
          </a:prstGeom>
          <a:solidFill>
            <a:srgbClr val="304755"/>
          </a:solidFill>
        </p:spPr>
      </p:sp>
      <p:sp>
        <p:nvSpPr>
          <p:cNvPr id="13" name="Text 10"/>
          <p:cNvSpPr/>
          <p:nvPr/>
        </p:nvSpPr>
        <p:spPr>
          <a:xfrm>
            <a:off x="4083472" y="3733130"/>
            <a:ext cx="1596926" cy="192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Saugandh R K Pal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083472" y="4004146"/>
            <a:ext cx="4406057" cy="2094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Reg No: U03EC23S0152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638324"/>
            <a:ext cx="4894734" cy="3849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Introduction &amp; Objective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23577" y="1219572"/>
            <a:ext cx="4667845" cy="6282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FRAS is a </a:t>
            </a:r>
            <a:r>
              <a:rPr lang="en-US" sz="10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computer-vision-based attendance system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that recognizes student faces in real-time and automatically matches them against a local database — eliminating manual roll calls entirely.</a:t>
            </a:r>
            <a:endParaRPr lang="en-US" sz="1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9290" y="1995041"/>
            <a:ext cx="4682133" cy="118958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1622" y="2140223"/>
            <a:ext cx="1540073" cy="192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The Concept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11622" y="2411239"/>
            <a:ext cx="4334619" cy="6282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Python-driven system using a standard laptop webcam to detect, process, and identify faces — logging attendance automatically with zero manual input from lecturers or administrators.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9290" y="3315519"/>
            <a:ext cx="4682133" cy="118958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11622" y="3460700"/>
            <a:ext cx="1540073" cy="192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Primary Goal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711622" y="3731716"/>
            <a:ext cx="4334619" cy="6282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To provide lecturers and administrators with an </a:t>
            </a:r>
            <a:r>
              <a:rPr lang="en-US" sz="10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authentic, automated, and tamper-proof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method to track student attendance and manage absenteeism seamlessly — reducing human error and proxy attendance.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6171" y="308446"/>
            <a:ext cx="902419" cy="155525"/>
          </a:xfrm>
          <a:prstGeom prst="roundRect">
            <a:avLst>
              <a:gd name="adj" fmla="val 7102"/>
            </a:avLst>
          </a:prstGeom>
          <a:solidFill>
            <a:srgbClr val="054842"/>
          </a:solidFill>
        </p:spPr>
      </p:sp>
      <p:sp>
        <p:nvSpPr>
          <p:cNvPr id="3" name="Text 1"/>
          <p:cNvSpPr/>
          <p:nvPr/>
        </p:nvSpPr>
        <p:spPr>
          <a:xfrm>
            <a:off x="1211387" y="336054"/>
            <a:ext cx="1249189" cy="1003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SYSTEM ARCHITECTURE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156171" y="489793"/>
            <a:ext cx="5551215" cy="2706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Plan of Work: Image Processing Pipeline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56171" y="857473"/>
            <a:ext cx="6831583" cy="2507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FRAS operates through a structured five-stage pipeline — from raw image capture through to a confirmed attendance record. Each stage processes and refines data before passing it to the next, ensuring accurate and reliable face matching.</a:t>
            </a:r>
            <a:endParaRPr lang="en-US" sz="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595" y="1181026"/>
            <a:ext cx="6094735" cy="33304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28289" y="2747174"/>
            <a:ext cx="1412197" cy="1807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Image Capture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894326" y="2725505"/>
            <a:ext cx="1412197" cy="1807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Pre-processing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52296" y="2732550"/>
            <a:ext cx="1412197" cy="1807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Recognition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56171" y="4584204"/>
            <a:ext cx="6831583" cy="2507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This end-to-end workflow executes in real-time on standard hardware, with each stage building on the previous to transform a raw webcam frame into a verified attendance entry.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755005"/>
            <a:ext cx="5580162" cy="3849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Core Technology &amp; Features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29295" y="1336253"/>
            <a:ext cx="4077295" cy="3052167"/>
          </a:xfrm>
          <a:prstGeom prst="roundRect">
            <a:avLst>
              <a:gd name="adj" fmla="val 643"/>
            </a:avLst>
          </a:prstGeom>
          <a:solidFill>
            <a:srgbClr val="007EBD"/>
          </a:solidFill>
        </p:spPr>
      </p:sp>
      <p:sp>
        <p:nvSpPr>
          <p:cNvPr id="4" name="Text 2"/>
          <p:cNvSpPr/>
          <p:nvPr/>
        </p:nvSpPr>
        <p:spPr>
          <a:xfrm>
            <a:off x="560189" y="1467148"/>
            <a:ext cx="2264941" cy="192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Development Stack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0189" y="1790551"/>
            <a:ext cx="3815507" cy="181250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Language:</a:t>
            </a:r>
            <a:r>
              <a:rPr lang="en-US" sz="10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Python 3 — chosen for its rich ecosystem of computer vision libraries including OpenCV, NumPy, and face_recognition</a:t>
            </a:r>
            <a:endParaRPr lang="en-US" sz="10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IDE:</a:t>
            </a:r>
            <a:r>
              <a:rPr lang="en-US" sz="10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PyCharm — a professional-grade environment offering integrated debugging, version control, and project management</a:t>
            </a:r>
            <a:endParaRPr lang="en-US" sz="10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Vision Library:</a:t>
            </a:r>
            <a:r>
              <a:rPr lang="en-US" sz="10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OpenCV — for real-time frame capture, image preprocessing, and face detection</a:t>
            </a:r>
            <a:endParaRPr lang="en-US" sz="10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Recognition Engine:</a:t>
            </a:r>
            <a:r>
              <a:rPr lang="en-US" sz="10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face_recognition library built on dlib's deep learning models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736455" y="1467148"/>
            <a:ext cx="2314054" cy="192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What is a "Feature"?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36455" y="1790551"/>
            <a:ext cx="3888730" cy="158360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 computer vision, a </a:t>
            </a:r>
            <a:r>
              <a:rPr lang="en-US" sz="10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feature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is an inherent, measurable data point within an image — such as pixel intensity values, edge gradients, corner points, or geometric shapes. FRAS combines thousands of these micro-features to build a unique facial signature.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These signatures allow the algorithm to </a:t>
            </a:r>
            <a:r>
              <a:rPr lang="en-US" sz="10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distinguish human faces from background objects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and differentiate one individual from another — even under varying lighting or minor pose changes.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36455" y="3521422"/>
            <a:ext cx="3888730" cy="719733"/>
          </a:xfrm>
          <a:prstGeom prst="roundRect">
            <a:avLst>
              <a:gd name="adj" fmla="val 2728"/>
            </a:avLst>
          </a:prstGeom>
          <a:solidFill>
            <a:srgbClr val="022349"/>
          </a:solidFill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7349" y="3718024"/>
            <a:ext cx="163637" cy="13089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161880" y="3671888"/>
            <a:ext cx="3332411" cy="4188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Features are the fundamental building blocks that enable automated identity verification without any manual input.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4538" y="534219"/>
            <a:ext cx="1133773" cy="215801"/>
          </a:xfrm>
          <a:prstGeom prst="roundRect">
            <a:avLst>
              <a:gd name="adj" fmla="val 6597"/>
            </a:avLst>
          </a:prstGeom>
          <a:solidFill>
            <a:srgbClr val="054842"/>
          </a:solidFill>
        </p:spPr>
      </p:sp>
      <p:sp>
        <p:nvSpPr>
          <p:cNvPr id="3" name="Text 1"/>
          <p:cNvSpPr/>
          <p:nvPr/>
        </p:nvSpPr>
        <p:spPr>
          <a:xfrm>
            <a:off x="545678" y="569788"/>
            <a:ext cx="1448693" cy="1446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CRITICAL COMPARISON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74538" y="792956"/>
            <a:ext cx="8580388" cy="34885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2019 Legacy vs. 2026 Optimized Implementation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474538" y="1303065"/>
            <a:ext cx="8194923" cy="3616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Our 2026 optimization represents a fundamental architectural shift — from hardware-dependent to </a:t>
            </a:r>
            <a:r>
              <a:rPr lang="en-US" sz="9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fully software-driven</a:t>
            </a: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 The table below highlights the key improvements achieved through modern laptop computing power.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74538" y="1785640"/>
            <a:ext cx="8194923" cy="2148185"/>
          </a:xfrm>
          <a:prstGeom prst="roundRect">
            <a:avLst>
              <a:gd name="adj" fmla="val 828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9301" y="1790402"/>
            <a:ext cx="8185398" cy="319236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597991" y="1859607"/>
            <a:ext cx="2018333" cy="1808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Dimension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01119" y="1859607"/>
            <a:ext cx="3407494" cy="1808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2019 Legacy System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593407" y="1859607"/>
            <a:ext cx="3409876" cy="1808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00" b="1" dirty="0">
                <a:solidFill>
                  <a:srgbClr val="007EBD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2026 Optimized System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9301" y="2109639"/>
            <a:ext cx="8185398" cy="500062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597991" y="2178844"/>
            <a:ext cx="2018333" cy="1808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Hardware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01119" y="2178844"/>
            <a:ext cx="3407494" cy="1808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External components: Raspberry Pi, HD Webcam, SD Card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593407" y="2178844"/>
            <a:ext cx="2952676" cy="3616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00" b="1" dirty="0">
                <a:solidFill>
                  <a:srgbClr val="007EBD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Zero External Hardware</a:t>
            </a: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runs 100% on existing laptop with built-in webcam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9301" y="2609701"/>
            <a:ext cx="8185398" cy="319236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597991" y="2678906"/>
            <a:ext cx="2018333" cy="1808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Total Hardware Budget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01119" y="2678906"/>
            <a:ext cx="3407494" cy="1808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₹5,500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593407" y="2678906"/>
            <a:ext cx="3409876" cy="1808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00" b="1" dirty="0">
                <a:solidFill>
                  <a:srgbClr val="007EBD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₹0 — Fully Software-Driven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9301" y="2928938"/>
            <a:ext cx="8185398" cy="500062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597991" y="2998143"/>
            <a:ext cx="2018333" cy="1808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Computing Power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01119" y="2998143"/>
            <a:ext cx="2950294" cy="3616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Limited by slow Raspberry Pi CPU and low RAM; heavy computations restricted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593407" y="2998143"/>
            <a:ext cx="2952676" cy="3616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00" b="1" dirty="0">
                <a:solidFill>
                  <a:srgbClr val="007EBD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Modern laptop CPU/GPU</a:t>
            </a: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for smooth, real-time local execution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9301" y="3429000"/>
            <a:ext cx="8185398" cy="500062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597991" y="3498205"/>
            <a:ext cx="2018333" cy="1808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Setup Complexity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401119" y="3498205"/>
            <a:ext cx="2950294" cy="3616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Weeks of physical assembly, wiring, and component configuration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593407" y="3498205"/>
            <a:ext cx="2952676" cy="3616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00" b="1" dirty="0">
                <a:solidFill>
                  <a:srgbClr val="007EBD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Instant deployment</a:t>
            </a: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plug-and-play capability from day one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4538" y="4054748"/>
            <a:ext cx="8194923" cy="433536"/>
          </a:xfrm>
          <a:prstGeom prst="roundRect">
            <a:avLst>
              <a:gd name="adj" fmla="val 4105"/>
            </a:avLst>
          </a:prstGeom>
          <a:solidFill>
            <a:srgbClr val="183A13"/>
          </a:solidFill>
        </p:spPr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154" y="4218236"/>
            <a:ext cx="148233" cy="11861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860003" y="4181103"/>
            <a:ext cx="8148042" cy="1808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2026 optimization eliminates all hardware costs and setup overhead, making FRAS deployable on any standard laptop immediately.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5392" y="392981"/>
            <a:ext cx="6465317" cy="378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Project Timeline &amp; Lean Workflow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515392" y="1025649"/>
            <a:ext cx="8113216" cy="40912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2026 implementation follows a streamlined </a:t>
            </a:r>
            <a:r>
              <a:rPr lang="en-US" sz="10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11-week software-only development cycle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 structured into four focused phases. Each phase builds directly on the previous, ensuring a logical progression from research through to a fully tested, deployable system.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64856" y="1577429"/>
            <a:ext cx="14288" cy="3173090"/>
          </a:xfrm>
          <a:prstGeom prst="roundRect">
            <a:avLst>
              <a:gd name="adj" fmla="val 135288"/>
            </a:avLst>
          </a:prstGeom>
          <a:solidFill>
            <a:srgbClr val="49606E"/>
          </a:solidFill>
        </p:spPr>
      </p:sp>
      <p:sp>
        <p:nvSpPr>
          <p:cNvPr id="5" name="Shape 3"/>
          <p:cNvSpPr/>
          <p:nvPr/>
        </p:nvSpPr>
        <p:spPr>
          <a:xfrm>
            <a:off x="4054748" y="1715244"/>
            <a:ext cx="386581" cy="14288"/>
          </a:xfrm>
          <a:prstGeom prst="roundRect">
            <a:avLst>
              <a:gd name="adj" fmla="val 135288"/>
            </a:avLst>
          </a:prstGeom>
          <a:solidFill>
            <a:srgbClr val="49606E"/>
          </a:solidFill>
        </p:spPr>
      </p:sp>
      <p:sp>
        <p:nvSpPr>
          <p:cNvPr id="6" name="Shape 4"/>
          <p:cNvSpPr/>
          <p:nvPr/>
        </p:nvSpPr>
        <p:spPr>
          <a:xfrm>
            <a:off x="4427041" y="1577429"/>
            <a:ext cx="289917" cy="289917"/>
          </a:xfrm>
          <a:prstGeom prst="roundRect">
            <a:avLst>
              <a:gd name="adj" fmla="val 6667"/>
            </a:avLst>
          </a:prstGeom>
          <a:solidFill>
            <a:srgbClr val="304755"/>
          </a:solidFill>
        </p:spPr>
      </p:sp>
      <p:sp>
        <p:nvSpPr>
          <p:cNvPr id="7" name="Text 5"/>
          <p:cNvSpPr/>
          <p:nvPr/>
        </p:nvSpPr>
        <p:spPr>
          <a:xfrm>
            <a:off x="4481066" y="1608683"/>
            <a:ext cx="181868" cy="22740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29371" y="1621706"/>
            <a:ext cx="1698352" cy="1894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Phase 1 — 3 Weeks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15392" y="1887215"/>
            <a:ext cx="3412331" cy="81825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32000"/>
              </a:lnSpc>
              <a:buNone/>
            </a:pPr>
            <a:r>
              <a:rPr lang="en-US" sz="10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Image Processing Research &amp; Algorithm Learning</a:t>
            </a:r>
            <a:endParaRPr lang="en-US" sz="1000" dirty="0"/>
          </a:p>
          <a:p>
            <a:pPr marL="0" indent="0" algn="r">
              <a:lnSpc>
                <a:spcPct val="132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Studying face detection algorithms, OpenCV fundamentals, and feature extraction techniques to establish the theoretical foundation.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2671" y="2484313"/>
            <a:ext cx="386581" cy="14288"/>
          </a:xfrm>
          <a:prstGeom prst="roundRect">
            <a:avLst>
              <a:gd name="adj" fmla="val 135288"/>
            </a:avLst>
          </a:prstGeom>
          <a:solidFill>
            <a:srgbClr val="49606E"/>
          </a:solidFill>
        </p:spPr>
      </p:sp>
      <p:sp>
        <p:nvSpPr>
          <p:cNvPr id="11" name="Shape 9"/>
          <p:cNvSpPr/>
          <p:nvPr/>
        </p:nvSpPr>
        <p:spPr>
          <a:xfrm>
            <a:off x="4427041" y="2346499"/>
            <a:ext cx="289917" cy="289917"/>
          </a:xfrm>
          <a:prstGeom prst="roundRect">
            <a:avLst>
              <a:gd name="adj" fmla="val 6667"/>
            </a:avLst>
          </a:prstGeom>
          <a:solidFill>
            <a:srgbClr val="304755"/>
          </a:solidFill>
        </p:spPr>
      </p:sp>
      <p:sp>
        <p:nvSpPr>
          <p:cNvPr id="12" name="Text 10"/>
          <p:cNvSpPr/>
          <p:nvPr/>
        </p:nvSpPr>
        <p:spPr>
          <a:xfrm>
            <a:off x="4481066" y="2377753"/>
            <a:ext cx="181868" cy="22740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16277" y="2390775"/>
            <a:ext cx="1746572" cy="1894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Phase 2 — 3 Weeks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216277" y="2656284"/>
            <a:ext cx="3412331" cy="61369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System Code Development &amp; Database Training</a:t>
            </a:r>
            <a:endParaRPr lang="en-US" sz="100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Writing core Python modules, building the local face database, and training the recognition model with sample datasets.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54748" y="3148682"/>
            <a:ext cx="386581" cy="14288"/>
          </a:xfrm>
          <a:prstGeom prst="roundRect">
            <a:avLst>
              <a:gd name="adj" fmla="val 135288"/>
            </a:avLst>
          </a:prstGeom>
          <a:solidFill>
            <a:srgbClr val="49606E"/>
          </a:solidFill>
        </p:spPr>
      </p:sp>
      <p:sp>
        <p:nvSpPr>
          <p:cNvPr id="16" name="Shape 14"/>
          <p:cNvSpPr/>
          <p:nvPr/>
        </p:nvSpPr>
        <p:spPr>
          <a:xfrm>
            <a:off x="4427041" y="3010867"/>
            <a:ext cx="289917" cy="289917"/>
          </a:xfrm>
          <a:prstGeom prst="roundRect">
            <a:avLst>
              <a:gd name="adj" fmla="val 6667"/>
            </a:avLst>
          </a:prstGeom>
          <a:solidFill>
            <a:srgbClr val="304755"/>
          </a:solidFill>
        </p:spPr>
      </p:sp>
      <p:sp>
        <p:nvSpPr>
          <p:cNvPr id="17" name="Text 15"/>
          <p:cNvSpPr/>
          <p:nvPr/>
        </p:nvSpPr>
        <p:spPr>
          <a:xfrm>
            <a:off x="4481066" y="3042121"/>
            <a:ext cx="181868" cy="22740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81151" y="3055144"/>
            <a:ext cx="1746572" cy="1894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Phase 3 — 2 Weeks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15392" y="3320653"/>
            <a:ext cx="3412331" cy="61369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32000"/>
              </a:lnSpc>
              <a:buNone/>
            </a:pPr>
            <a:r>
              <a:rPr lang="en-US" sz="10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Camera Calibration &amp; Interface Integration</a:t>
            </a:r>
            <a:endParaRPr lang="en-US" sz="1000" dirty="0"/>
          </a:p>
          <a:p>
            <a:pPr marL="0" indent="0" algn="r">
              <a:lnSpc>
                <a:spcPct val="132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Calibrating the built-in webcam, refining the user interface, and integrating all system modules into a unified application.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2671" y="3813125"/>
            <a:ext cx="386581" cy="14288"/>
          </a:xfrm>
          <a:prstGeom prst="roundRect">
            <a:avLst>
              <a:gd name="adj" fmla="val 135288"/>
            </a:avLst>
          </a:prstGeom>
          <a:solidFill>
            <a:srgbClr val="49606E"/>
          </a:solidFill>
        </p:spPr>
      </p:sp>
      <p:sp>
        <p:nvSpPr>
          <p:cNvPr id="21" name="Shape 19"/>
          <p:cNvSpPr/>
          <p:nvPr/>
        </p:nvSpPr>
        <p:spPr>
          <a:xfrm>
            <a:off x="4427041" y="3675311"/>
            <a:ext cx="289917" cy="289917"/>
          </a:xfrm>
          <a:prstGeom prst="roundRect">
            <a:avLst>
              <a:gd name="adj" fmla="val 6667"/>
            </a:avLst>
          </a:prstGeom>
          <a:solidFill>
            <a:srgbClr val="304755"/>
          </a:solidFill>
        </p:spPr>
      </p:sp>
      <p:sp>
        <p:nvSpPr>
          <p:cNvPr id="22" name="Text 20"/>
          <p:cNvSpPr/>
          <p:nvPr/>
        </p:nvSpPr>
        <p:spPr>
          <a:xfrm>
            <a:off x="4481066" y="3706564"/>
            <a:ext cx="181868" cy="22740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16277" y="3719587"/>
            <a:ext cx="1748656" cy="1894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Phase 4 — 3 Weeks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216277" y="3985096"/>
            <a:ext cx="3412331" cy="61369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System Optimization &amp; Final Testing</a:t>
            </a:r>
            <a:endParaRPr lang="en-US" sz="100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Performance tuning, accuracy benchmarking, edge-case testing, and final documentation for project submission.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95002"/>
            <a:ext cx="4531668" cy="3849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Interface &amp; User Menu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577" y="1141735"/>
            <a:ext cx="8096845" cy="4188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FRAS features a clean, menu-driven command-line interface designed for ease of use by lecturers and administrators. The six-option welcome menu guides users through the complete attendance workflow — from initial hardware checks to automated email notifications.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29295" y="1707803"/>
            <a:ext cx="4077295" cy="2940695"/>
          </a:xfrm>
          <a:prstGeom prst="roundRect">
            <a:avLst>
              <a:gd name="adj" fmla="val 668"/>
            </a:avLst>
          </a:prstGeom>
          <a:solidFill>
            <a:srgbClr val="007EBD"/>
          </a:solidFill>
        </p:spPr>
      </p:sp>
      <p:sp>
        <p:nvSpPr>
          <p:cNvPr id="5" name="Text 3"/>
          <p:cNvSpPr/>
          <p:nvPr/>
        </p:nvSpPr>
        <p:spPr>
          <a:xfrm>
            <a:off x="560189" y="1838697"/>
            <a:ext cx="2402384" cy="192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FRAS Welcome Menu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0189" y="2162101"/>
            <a:ext cx="4272707" cy="2094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Select an option to proceed: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0189" y="2489299"/>
            <a:ext cx="3815507" cy="211343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[1]</a:t>
            </a:r>
            <a:r>
              <a:rPr lang="en-US" sz="10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Check Camera — Verify webcam connectivity and preview live feed</a:t>
            </a:r>
            <a:endParaRPr lang="en-US" sz="10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[2]</a:t>
            </a:r>
            <a:r>
              <a:rPr lang="en-US" sz="10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Capture Faces — Register new student faces into the database</a:t>
            </a:r>
            <a:endParaRPr lang="en-US" sz="10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[3]</a:t>
            </a:r>
            <a:r>
              <a:rPr lang="en-US" sz="10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Train Images — Process and encode captured images for recognition</a:t>
            </a:r>
            <a:endParaRPr lang="en-US" sz="10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[4]</a:t>
            </a:r>
            <a:r>
              <a:rPr lang="en-US" sz="10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Recognize &amp; Attendance — Run live recognition and log attendance</a:t>
            </a:r>
            <a:endParaRPr lang="en-US" sz="10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[5]</a:t>
            </a:r>
            <a:r>
              <a:rPr lang="en-US" sz="10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Auto Mail — Trigger automated absentee notification emails</a:t>
            </a:r>
            <a:endParaRPr lang="en-US" sz="10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[6]</a:t>
            </a:r>
            <a:r>
              <a:rPr lang="en-US" sz="10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Quit — Exit the application safely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36455" y="1838697"/>
            <a:ext cx="1997273" cy="192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36455" y="2162101"/>
            <a:ext cx="3888730" cy="83760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Each menu option corresponds to a discrete stage in the attendance workflow. Lecturers can register new students, run recognition sessions, and notify absent students — all from a single unified interface.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36455" y="3146971"/>
            <a:ext cx="1878881" cy="1003995"/>
          </a:xfrm>
          <a:prstGeom prst="roundRect">
            <a:avLst>
              <a:gd name="adj" fmla="val 1956"/>
            </a:avLst>
          </a:prstGeom>
          <a:solidFill>
            <a:srgbClr val="304755"/>
          </a:solidFill>
        </p:spPr>
      </p:sp>
      <p:sp>
        <p:nvSpPr>
          <p:cNvPr id="11" name="Text 9"/>
          <p:cNvSpPr/>
          <p:nvPr/>
        </p:nvSpPr>
        <p:spPr>
          <a:xfrm>
            <a:off x="4867349" y="3277865"/>
            <a:ext cx="1540073" cy="192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Non-Technical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67349" y="3601269"/>
            <a:ext cx="1617092" cy="4188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No coding knowledge required to operate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46230" y="3146971"/>
            <a:ext cx="1878955" cy="1003995"/>
          </a:xfrm>
          <a:prstGeom prst="roundRect">
            <a:avLst>
              <a:gd name="adj" fmla="val 1956"/>
            </a:avLst>
          </a:prstGeom>
          <a:solidFill>
            <a:srgbClr val="304755"/>
          </a:solidFill>
        </p:spPr>
      </p:sp>
      <p:sp>
        <p:nvSpPr>
          <p:cNvPr id="14" name="Text 12"/>
          <p:cNvSpPr/>
          <p:nvPr/>
        </p:nvSpPr>
        <p:spPr>
          <a:xfrm>
            <a:off x="6877124" y="3277865"/>
            <a:ext cx="1540073" cy="192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Modular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77124" y="3601269"/>
            <a:ext cx="1617166" cy="4188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Each function operates independently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75370"/>
            <a:ext cx="5735389" cy="3849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Result Analysis &amp; Limitations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577" y="1287512"/>
            <a:ext cx="2589833" cy="4319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1,200+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48420" y="1883048"/>
            <a:ext cx="1540073" cy="192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Facial Images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23577" y="2154064"/>
            <a:ext cx="2589833" cy="4188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Total images evaluated and used to train the local recognition database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77046" y="1287512"/>
            <a:ext cx="2589833" cy="4319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80-81%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566443" y="1883048"/>
            <a:ext cx="2010966" cy="192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Recognition Accuracy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77046" y="2154064"/>
            <a:ext cx="2589833" cy="4188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Real-time face identification accuracy achieved under controlled conditions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30516" y="1287512"/>
            <a:ext cx="2589907" cy="4319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₹0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555432" y="1883048"/>
            <a:ext cx="1540073" cy="192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Hardware Cost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0516" y="2154064"/>
            <a:ext cx="2589907" cy="4188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Total expenditure on external hardware — fully software-driven on existing laptop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3577" y="2851026"/>
            <a:ext cx="2192089" cy="192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What We Achieved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3577" y="3174429"/>
            <a:ext cx="3888730" cy="83760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With a dataset exceeding 1,200 facial images, the system consistently identifies registered students in real-time with an accuracy rate of </a:t>
            </a:r>
            <a:r>
              <a:rPr lang="en-US" sz="10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80–81%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a strong baseline for a local, non-neural implementation running on standard hardware.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36455" y="2851026"/>
            <a:ext cx="2254448" cy="192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Current Limitations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36455" y="3174429"/>
            <a:ext cx="3888730" cy="13479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Distance Constraint: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Recognition performance degrades beyond the optimal range of the built-in webcam</a:t>
            </a:r>
            <a:endParaRPr lang="en-US" sz="10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Lighting Sensitivity: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Accuracy fluctuates under poor or inconsistent ambient lighting conditions</a:t>
            </a:r>
            <a:endParaRPr lang="en-US" sz="10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Dataset Ceiling: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Local, non-neural datasets have inherent scalability limits compared to deep learning models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895945"/>
            <a:ext cx="5150048" cy="3849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Future Scope &amp; Upgrades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577" y="1542678"/>
            <a:ext cx="8096845" cy="4188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FRAS has a clear roadmap for evolution — from a local laptop application to a </a:t>
            </a:r>
            <a:r>
              <a:rPr lang="en-US" sz="10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scalable, enterprise-grade attendance platform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 Two major upgrades are planned to push accuracy and deployment capability significantly further.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2108746"/>
            <a:ext cx="1150293" cy="7108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37506" y="2108746"/>
            <a:ext cx="1598935" cy="192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Cloud Integration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837506" y="2379762"/>
            <a:ext cx="2652638" cy="167520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Transition the local application into an </a:t>
            </a:r>
            <a:r>
              <a:rPr lang="en-US" sz="10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online, web-based platform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capable of scaling deployment across entire universities, factories, or corporate workplaces. A cloud-hosted database would enable centralized attendance management, remote access for administrators, and real-time synchronization across multiple locations simultaneously.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3781" y="2108746"/>
            <a:ext cx="1150293" cy="71087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67710" y="2108746"/>
            <a:ext cx="2652713" cy="38501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Deep Learning Integration (CNN)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967710" y="2572271"/>
            <a:ext cx="2652713" cy="167520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Upgrade the current local feature-extraction code to a </a:t>
            </a:r>
            <a:r>
              <a:rPr lang="en-US" sz="10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Convolutional Neural Network (CNN)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model. This would dramatically expand the scalable dataset size and push real-time recognition accuracy metrics toward </a:t>
            </a:r>
            <a:r>
              <a:rPr lang="en-US" sz="10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99.9%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matching industry-standard biometric systems used in enterprise security and identity verification.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50156"/>
            <a:ext cx="3755752" cy="3849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Conclusion &amp; Q&amp;A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19882" y="1296888"/>
            <a:ext cx="7900541" cy="4188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"FRAS demonstrates that a fully functional, real-time face recognition attendance system can be built at </a:t>
            </a:r>
            <a:r>
              <a:rPr lang="en-US" sz="10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zero hardware cost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leveraging modern laptop computing power and open-source Python libraries to deliver a practical, tamper-proof solution for academic environments."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29295" y="1862956"/>
            <a:ext cx="4077295" cy="2630314"/>
          </a:xfrm>
          <a:prstGeom prst="roundRect">
            <a:avLst>
              <a:gd name="adj" fmla="val 747"/>
            </a:avLst>
          </a:prstGeom>
          <a:solidFill>
            <a:srgbClr val="007EBD"/>
          </a:solidFill>
        </p:spPr>
      </p:sp>
      <p:sp>
        <p:nvSpPr>
          <p:cNvPr id="5" name="Text 3"/>
          <p:cNvSpPr/>
          <p:nvPr/>
        </p:nvSpPr>
        <p:spPr>
          <a:xfrm>
            <a:off x="560189" y="1993850"/>
            <a:ext cx="2133898" cy="192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Key Achievements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0189" y="2317254"/>
            <a:ext cx="3815507" cy="148523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Zero external hardware — 100% software-driven</a:t>
            </a:r>
            <a:endParaRPr lang="en-US" sz="10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Real-time face recognition at 80–81% accuracy</a:t>
            </a:r>
            <a:endParaRPr lang="en-US" sz="10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Trained on 1,200+ facial images</a:t>
            </a:r>
            <a:endParaRPr lang="en-US" sz="10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Modular, user-friendly command-line interface</a:t>
            </a:r>
            <a:endParaRPr lang="en-US" sz="10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Automated absentee email notifications</a:t>
            </a:r>
            <a:endParaRPr lang="en-US" sz="10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Full cost optimization from ₹5,500 to ₹0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36455" y="1993850"/>
            <a:ext cx="1997273" cy="192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36455" y="2317254"/>
            <a:ext cx="3888730" cy="6282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We appreciate the time and attention of the examination panel. We are happy to address any questions regarding the system architecture, implementation decisions, results, or future roadmap.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36455" y="3125391"/>
            <a:ext cx="3888730" cy="9748"/>
          </a:xfrm>
          <a:prstGeom prst="rect">
            <a:avLst/>
          </a:prstGeom>
          <a:solidFill>
            <a:srgbClr val="CAD6DE">
              <a:alpha val="50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4736455" y="3315072"/>
            <a:ext cx="3888730" cy="6282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Mohammed Bilal K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· U03EC23S0178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Adhik S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· U03EC23S0104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Soughand R K Pal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· U03EC23S0152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36455" y="4090541"/>
            <a:ext cx="1257151" cy="255463"/>
          </a:xfrm>
          <a:prstGeom prst="roundRect">
            <a:avLst>
              <a:gd name="adj" fmla="val 6149"/>
            </a:avLst>
          </a:prstGeom>
          <a:noFill/>
          <a:ln w="4763">
            <a:solidFill>
              <a:srgbClr val="0A98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9724" y="4134520"/>
            <a:ext cx="1547813" cy="16750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OPEN FOR QUESTIONS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7999</Words>
  <Application>WPS Presentation</Application>
  <PresentationFormat>On-screen Show (16:9)</PresentationFormat>
  <Paragraphs>220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Unbounded</vt:lpstr>
      <vt:lpstr>Unbounded</vt:lpstr>
      <vt:lpstr>Unbounded</vt:lpstr>
      <vt:lpstr>Cabin</vt:lpstr>
      <vt:lpstr>Cabin</vt:lpstr>
      <vt:lpstr>Cabin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BILAL 45</cp:lastModifiedBy>
  <cp:revision>2</cp:revision>
  <dcterms:created xsi:type="dcterms:W3CDTF">2026-06-08T12:02:00Z</dcterms:created>
  <dcterms:modified xsi:type="dcterms:W3CDTF">2026-06-15T17:24:35Z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54ED4F10E4964D2F9D55A3B51FF3CE53_12</vt:lpwstr>
  </property>
  <property fmtid="{D5CDD505-2E9C-101B-9397-08002B2CF9AE}" pid="3" name="KSOProductBuildVer">
    <vt:lpwstr>1033-12.1.0.26880</vt:lpwstr>
  </property>
</Properties>
</file>